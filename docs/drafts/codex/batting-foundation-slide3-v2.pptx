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d9c95b1f514447" /><Relationship Type="http://schemas.openxmlformats.org/officeDocument/2006/relationships/extended-properties" Target="/docProps/app.xml" Id="Rd81d19bf91304539" /><Relationship Type="http://schemas.openxmlformats.org/officeDocument/2006/relationships/officeDocument" Target="/ppt/presentation.xml" Id="R77e0d86df589487a" /></Relationships>
</file>

<file path=ppt/presentation.xml><?xml version="1.0" encoding="utf-8"?>
<p:presentation xmlns:p="http://schemas.openxmlformats.org/presentationml/2006/main">
  <p:sldMasterIdLst>
    <p:sldMasterId xmlns:r="http://schemas.openxmlformats.org/officeDocument/2006/relationships" id="2147483648" r:id="R20895d3593de47ff"/>
  </p:sldMasterIdLst>
  <p:notesMasterIdLst>
    <p:notesMasterId xmlns:r="http://schemas.openxmlformats.org/officeDocument/2006/relationships" r:id="R4781b73cc55b4d9f"/>
  </p:notesMasterIdLst>
  <p:sldIdLst>
    <p:sldId xmlns:r="http://schemas.openxmlformats.org/officeDocument/2006/relationships" id="256" r:id="R34ef842747464ae4"/>
  </p:sldIdLst>
  <p:sldSz cx="15240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e5c18c560a44b3" /><Relationship Type="http://schemas.openxmlformats.org/officeDocument/2006/relationships/slideMaster" Target="/ppt/slideMasters/slideMaster1.xml" Id="R20895d3593de47ff" /><Relationship Type="http://schemas.openxmlformats.org/officeDocument/2006/relationships/notesMaster" Target="/ppt/notesMasters/notesMaster1.xml" Id="R4781b73cc55b4d9f" /><Relationship Type="http://schemas.openxmlformats.org/officeDocument/2006/relationships/presProps" Target="/ppt/presProps.xml" Id="R11f943dc1a9a4b57" /><Relationship Type="http://schemas.openxmlformats.org/officeDocument/2006/relationships/tableStyles" Target="/ppt/tableStyles.xml" Id="Rca2e8d001cee4738" /><Relationship Type="http://schemas.openxmlformats.org/officeDocument/2006/relationships/slide" Target="/ppt/slides/slide1.xml" Id="R34ef842747464a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c8750e83b14b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81f4965b7f4e08" /><Relationship Type="http://schemas.openxmlformats.org/officeDocument/2006/relationships/notesMaster" Target="/ppt/notesMasters/notesMaster1.xml" Id="Rb9509a72e6ee4a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上段と下段は目的が違う。上段は椅子を持ち、腰の側面が移動方向の足より外へ出るまで左右へ動かして股関節まわりの可動域を広げる。下段は右打者の体重移動で、右腰側から左腰、左股関節の真上まで移す。ストレッチほど外へ出さない。そこで下半身を保ったまま椅子を外し、体重を左股関節で受けた状態から左股関節を支点に回る。回転では右腰を遠回りさせず、投手方向へ進める。左膝を固定しない。痛みや違和感があれば中止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f60b199b4043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91c671eb504fbc" /><Relationship Type="http://schemas.openxmlformats.org/officeDocument/2006/relationships/slideLayout" Target="/ppt/slideLayouts/slideLayout1.xml" Id="R757813cb2ef840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7813cb2ef840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d3ea67383c43a1" /><Relationship Type="http://schemas.openxmlformats.org/officeDocument/2006/relationships/image" Target="/ppt/media/image.png" Id="R323e60ed492f4d3d" /><Relationship Type="http://schemas.openxmlformats.org/officeDocument/2006/relationships/image" Target="/ppt/media/image2.png" Id="R019ddf78d7f34fc1" /><Relationship Type="http://schemas.openxmlformats.org/officeDocument/2006/relationships/notesSlide" Target="/ppt/notesSlides/notesSlide1.xml" Id="Ra5b121496bd34ec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itle">
            <a:extLst xmlns:a="http://schemas.openxmlformats.org/drawingml/2006/main">
              <a:ext uri="{FF2B5EF4-FFF2-40B4-BE49-F238E27FC236}">
                <a16:creationId xmlns:a16="http://schemas.microsoft.com/office/drawing/2014/main" id="{CD58DC7F-FAED-4A1E-B5AA-E3F984407991}"/>
              </a:ext>
            </a:extLst>
          </p:cNvPr>
          <p:cNvSpPr>
            <a:spLocks xmlns:a="http://schemas.openxmlformats.org/drawingml/2006/main" noGrp="1"/>
          </p:cNvSpPr>
          <p:nvPr/>
        </p:nvSpPr>
        <p:spPr>
          <a:xfrm xmlns:a="http://schemas.openxmlformats.org/drawingml/2006/main">
            <a:off x="381000" y="190500"/>
            <a:ext cx="1447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11111"/>
                </a:solidFill>
                <a:latin typeface="Hiragino Sans"/>
                <a:ea typeface="Hiragino Sans"/>
                <a:cs typeface="Hiragino Sans"/>
              </a:defRPr>
            </a:pPr>
            <a:r>
              <a:rPr sz="3000" b="1">
                <a:solidFill>
                  <a:srgbClr val="111111"/>
                </a:solidFill>
                <a:latin typeface="Hiragino Sans"/>
                <a:ea typeface="Hiragino Sans"/>
                <a:cs typeface="Hiragino Sans"/>
              </a:rPr>
              <a:t>腰の横移動　ストレッチと右打者の体重移動を分ける</a:t>
            </a:r>
          </a:p>
        </p:txBody>
      </p:sp>
      <p:sp>
        <p:nvSpPr>
          <p:cNvPr id="2" name="title-line">
            <a:extLst xmlns:a="http://schemas.openxmlformats.org/drawingml/2006/main">
              <a:ext uri="{FF2B5EF4-FFF2-40B4-BE49-F238E27FC236}">
                <a16:creationId xmlns:a16="http://schemas.microsoft.com/office/drawing/2014/main" id="{3813B35C-D50A-4722-8BA6-FAC8C6D48485}"/>
              </a:ext>
            </a:extLst>
          </p:cNvPr>
          <p:cNvSpPr>
            <a:spLocks xmlns:a="http://schemas.openxmlformats.org/drawingml/2006/main" noGrp="1"/>
          </p:cNvSpPr>
          <p:nvPr/>
        </p:nvSpPr>
        <p:spPr>
          <a:xfrm xmlns:a="http://schemas.openxmlformats.org/drawingml/2006/main">
            <a:off x="381000" y="838200"/>
            <a:ext cx="14478000" cy="28575"/>
          </a:xfrm>
          <a:prstGeom xmlns:a="http://schemas.openxmlformats.org/drawingml/2006/main" prst="rect">
            <a:avLst/>
          </a:prstGeom>
          <a:solidFill xmlns:a="http://schemas.openxmlformats.org/drawingml/2006/main">
            <a:srgbClr val="1677A8"/>
          </a:solidFill>
          <a:ln xmlns:a="http://schemas.openxmlformats.org/drawingml/2006/main" w="0">
            <a:noFill/>
          </a:ln>
        </p:spPr>
      </p:sp>
      <p:sp>
        <p:nvSpPr>
          <p:cNvPr id="3" name="stage-a">
            <a:extLst xmlns:a="http://schemas.openxmlformats.org/drawingml/2006/main">
              <a:ext uri="{FF2B5EF4-FFF2-40B4-BE49-F238E27FC236}">
                <a16:creationId xmlns:a16="http://schemas.microsoft.com/office/drawing/2014/main" id="{F9CC8306-2C18-4C75-B5D0-BE68AE070291}"/>
              </a:ext>
            </a:extLst>
          </p:cNvPr>
          <p:cNvSpPr>
            <a:spLocks xmlns:a="http://schemas.openxmlformats.org/drawingml/2006/main" noGrp="1"/>
          </p:cNvSpPr>
          <p:nvPr/>
        </p:nvSpPr>
        <p:spPr>
          <a:xfrm xmlns:a="http://schemas.openxmlformats.org/drawingml/2006/main">
            <a:off x="571500" y="1028700"/>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677A8"/>
                </a:solidFill>
                <a:latin typeface="Hiragino Sans"/>
                <a:ea typeface="Hiragino Sans"/>
                <a:cs typeface="Hiragino Sans"/>
              </a:defRPr>
            </a:pPr>
            <a:r>
              <a:rPr sz="2025" b="1">
                <a:solidFill>
                  <a:srgbClr val="1677A8"/>
                </a:solidFill>
                <a:latin typeface="Hiragino Sans"/>
                <a:ea typeface="Hiragino Sans"/>
                <a:cs typeface="Hiragino Sans"/>
              </a:rPr>
              <a:t>A　左右の可動域を広げるストレッチ</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23e60ed492f4d3d"/>
          <a:stretch xmlns:a="http://schemas.openxmlformats.org/drawingml/2006/main"/>
        </p:blipFill>
        <p:spPr>
          <a:xfrm xmlns:a="http://schemas.openxmlformats.org/drawingml/2006/main">
            <a:off x="2226469" y="1428750"/>
            <a:ext cx="5929313" cy="3952875"/>
          </a:xfrm>
          <a:prstGeom xmlns:a="http://schemas.openxmlformats.org/drawingml/2006/main" prst="rect">
            <a:avLst/>
          </a:prstGeom>
        </p:spPr>
      </p:pic>
      <p:sp>
        <p:nvSpPr>
          <p:cNvPr id="5" name="stage-a-note">
            <a:extLst xmlns:a="http://schemas.openxmlformats.org/drawingml/2006/main">
              <a:ext uri="{FF2B5EF4-FFF2-40B4-BE49-F238E27FC236}">
                <a16:creationId xmlns:a16="http://schemas.microsoft.com/office/drawing/2014/main" id="{21CDB10A-85BE-42A2-AF8F-C0FB5400666C}"/>
              </a:ext>
            </a:extLst>
          </p:cNvPr>
          <p:cNvSpPr>
            <a:spLocks xmlns:a="http://schemas.openxmlformats.org/drawingml/2006/main" noGrp="1"/>
          </p:cNvSpPr>
          <p:nvPr/>
        </p:nvSpPr>
        <p:spPr>
          <a:xfrm xmlns:a="http://schemas.openxmlformats.org/drawingml/2006/main">
            <a:off x="857250" y="5143500"/>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677A8"/>
                </a:solidFill>
                <a:latin typeface="Hiragino Sans"/>
                <a:ea typeface="Hiragino Sans"/>
                <a:cs typeface="Hiragino Sans"/>
              </a:defRPr>
            </a:pPr>
            <a:r>
              <a:rPr sz="1425" b="1">
                <a:solidFill>
                  <a:srgbClr val="1677A8"/>
                </a:solidFill>
                <a:latin typeface="Hiragino Sans"/>
                <a:ea typeface="Hiragino Sans"/>
                <a:cs typeface="Hiragino Sans"/>
              </a:rPr>
              <a:t>腰の側面が移動方向の足より外へ出るまで、左右へゆっくり動かす</a:t>
            </a:r>
          </a:p>
        </p:txBody>
      </p:sp>
      <p:sp>
        <p:nvSpPr>
          <p:cNvPr id="6" name="stage-b">
            <a:extLst xmlns:a="http://schemas.openxmlformats.org/drawingml/2006/main">
              <a:ext uri="{FF2B5EF4-FFF2-40B4-BE49-F238E27FC236}">
                <a16:creationId xmlns:a16="http://schemas.microsoft.com/office/drawing/2014/main" id="{39C57A4E-ECCE-4679-BBDB-0EBBD06DBD9D}"/>
              </a:ext>
            </a:extLst>
          </p:cNvPr>
          <p:cNvSpPr>
            <a:spLocks xmlns:a="http://schemas.openxmlformats.org/drawingml/2006/main" noGrp="1"/>
          </p:cNvSpPr>
          <p:nvPr/>
        </p:nvSpPr>
        <p:spPr>
          <a:xfrm xmlns:a="http://schemas.openxmlformats.org/drawingml/2006/main">
            <a:off x="571500" y="5657850"/>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955125"/>
                </a:solidFill>
                <a:latin typeface="Hiragino Sans"/>
                <a:ea typeface="Hiragino Sans"/>
                <a:cs typeface="Hiragino Sans"/>
              </a:defRPr>
            </a:pPr>
            <a:r>
              <a:rPr sz="2025" b="1">
                <a:solidFill>
                  <a:srgbClr val="955125"/>
                </a:solidFill>
                <a:latin typeface="Hiragino Sans"/>
                <a:ea typeface="Hiragino Sans"/>
                <a:cs typeface="Hiragino Sans"/>
              </a:rPr>
              <a:t>B　右打者の体重移動と回転</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19ddf78d7f34fc1"/>
          <a:stretch xmlns:a="http://schemas.openxmlformats.org/drawingml/2006/main"/>
        </p:blipFill>
        <p:spPr>
          <a:xfrm xmlns:a="http://schemas.openxmlformats.org/drawingml/2006/main">
            <a:off x="2226469" y="6048375"/>
            <a:ext cx="5929313" cy="3952875"/>
          </a:xfrm>
          <a:prstGeom xmlns:a="http://schemas.openxmlformats.org/drawingml/2006/main" prst="rect">
            <a:avLst/>
          </a:prstGeom>
        </p:spPr>
      </p:pic>
      <p:sp>
        <p:nvSpPr>
          <p:cNvPr id="8" name="stage-b-note">
            <a:extLst xmlns:a="http://schemas.openxmlformats.org/drawingml/2006/main">
              <a:ext uri="{FF2B5EF4-FFF2-40B4-BE49-F238E27FC236}">
                <a16:creationId xmlns:a16="http://schemas.microsoft.com/office/drawing/2014/main" id="{387A9480-050A-47CA-8810-4A13CDCAB586}"/>
              </a:ext>
            </a:extLst>
          </p:cNvPr>
          <p:cNvSpPr>
            <a:spLocks xmlns:a="http://schemas.openxmlformats.org/drawingml/2006/main" noGrp="1"/>
          </p:cNvSpPr>
          <p:nvPr/>
        </p:nvSpPr>
        <p:spPr>
          <a:xfrm xmlns:a="http://schemas.openxmlformats.org/drawingml/2006/main">
            <a:off x="857250" y="9791700"/>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955125"/>
                </a:solidFill>
                <a:latin typeface="Hiragino Sans"/>
                <a:ea typeface="Hiragino Sans"/>
                <a:cs typeface="Hiragino Sans"/>
              </a:defRPr>
            </a:pPr>
            <a:r>
              <a:rPr sz="1425" b="1">
                <a:solidFill>
                  <a:srgbClr val="955125"/>
                </a:solidFill>
                <a:latin typeface="Hiragino Sans"/>
                <a:ea typeface="Hiragino Sans"/>
                <a:cs typeface="Hiragino Sans"/>
              </a:rPr>
              <a:t>右腰側から左股関節へ移る　椅子を外しても戻らず、左股関節を支点に回る</a:t>
            </a:r>
          </a:p>
        </p:txBody>
      </p:sp>
      <p:sp>
        <p:nvSpPr>
          <p:cNvPr id="9" name="purpose-title">
            <a:extLst xmlns:a="http://schemas.openxmlformats.org/drawingml/2006/main">
              <a:ext uri="{FF2B5EF4-FFF2-40B4-BE49-F238E27FC236}">
                <a16:creationId xmlns:a16="http://schemas.microsoft.com/office/drawing/2014/main" id="{B7A1E102-7419-4C7A-A08F-25142E1D9834}"/>
              </a:ext>
            </a:extLst>
          </p:cNvPr>
          <p:cNvSpPr>
            <a:spLocks xmlns:a="http://schemas.openxmlformats.org/drawingml/2006/main" noGrp="1"/>
          </p:cNvSpPr>
          <p:nvPr/>
        </p:nvSpPr>
        <p:spPr>
          <a:xfrm xmlns:a="http://schemas.openxmlformats.org/drawingml/2006/main">
            <a:off x="10287000" y="104775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677A8"/>
                </a:solidFill>
                <a:latin typeface="Hiragino Sans"/>
                <a:ea typeface="Hiragino Sans"/>
                <a:cs typeface="Hiragino Sans"/>
              </a:defRPr>
            </a:pPr>
            <a:r>
              <a:rPr sz="2175" b="1">
                <a:solidFill>
                  <a:srgbClr val="1677A8"/>
                </a:solidFill>
                <a:latin typeface="Hiragino Sans"/>
                <a:ea typeface="Hiragino Sans"/>
                <a:cs typeface="Hiragino Sans"/>
              </a:rPr>
              <a:t>2つの目的</a:t>
            </a:r>
          </a:p>
        </p:txBody>
      </p:sp>
      <p:sp>
        <p:nvSpPr>
          <p:cNvPr id="10" name="purpose">
            <a:extLst xmlns:a="http://schemas.openxmlformats.org/drawingml/2006/main">
              <a:ext uri="{FF2B5EF4-FFF2-40B4-BE49-F238E27FC236}">
                <a16:creationId xmlns:a16="http://schemas.microsoft.com/office/drawing/2014/main" id="{35129180-BD51-49CA-A11C-53EB92D50561}"/>
              </a:ext>
            </a:extLst>
          </p:cNvPr>
          <p:cNvSpPr>
            <a:spLocks xmlns:a="http://schemas.openxmlformats.org/drawingml/2006/main" noGrp="1"/>
          </p:cNvSpPr>
          <p:nvPr/>
        </p:nvSpPr>
        <p:spPr>
          <a:xfrm xmlns:a="http://schemas.openxmlformats.org/drawingml/2006/main">
            <a:off x="10287000" y="1466850"/>
            <a:ext cx="4476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11111"/>
                </a:solidFill>
                <a:latin typeface="Hiragino Sans"/>
                <a:ea typeface="Hiragino Sans"/>
                <a:cs typeface="Hiragino Sans"/>
              </a:defRPr>
            </a:pPr>
            <a:r>
              <a:rPr sz="1575" b="0">
                <a:solidFill>
                  <a:srgbClr val="111111"/>
                </a:solidFill>
                <a:latin typeface="Hiragino Sans"/>
                <a:ea typeface="Hiragino Sans"/>
                <a:cs typeface="Hiragino Sans"/>
              </a:rPr>
              <a:t>前半は、腰を左右へ動かす可動域づくり。後半は、右打者の体重を右腰側から左股関節へ移し、左股関節を支点に回る順序を覚える。</a:t>
            </a:r>
          </a:p>
        </p:txBody>
      </p:sp>
      <p:sp>
        <p:nvSpPr>
          <p:cNvPr id="11" name="sep-1">
            <a:extLst xmlns:a="http://schemas.openxmlformats.org/drawingml/2006/main">
              <a:ext uri="{FF2B5EF4-FFF2-40B4-BE49-F238E27FC236}">
                <a16:creationId xmlns:a16="http://schemas.microsoft.com/office/drawing/2014/main" id="{3B760E8B-D598-4C81-B1FB-D607EF38C1A7}"/>
              </a:ext>
            </a:extLst>
          </p:cNvPr>
          <p:cNvSpPr>
            <a:spLocks xmlns:a="http://schemas.openxmlformats.org/drawingml/2006/main" noGrp="1"/>
          </p:cNvSpPr>
          <p:nvPr/>
        </p:nvSpPr>
        <p:spPr>
          <a:xfrm xmlns:a="http://schemas.openxmlformats.org/drawingml/2006/main">
            <a:off x="10287000" y="2705100"/>
            <a:ext cx="4476750" cy="19050"/>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2" name="setup-title">
            <a:extLst xmlns:a="http://schemas.openxmlformats.org/drawingml/2006/main">
              <a:ext uri="{FF2B5EF4-FFF2-40B4-BE49-F238E27FC236}">
                <a16:creationId xmlns:a16="http://schemas.microsoft.com/office/drawing/2014/main" id="{90B95346-3232-4B2B-8C3D-CDDDACB776E1}"/>
              </a:ext>
            </a:extLst>
          </p:cNvPr>
          <p:cNvSpPr>
            <a:spLocks xmlns:a="http://schemas.openxmlformats.org/drawingml/2006/main" noGrp="1"/>
          </p:cNvSpPr>
          <p:nvPr/>
        </p:nvSpPr>
        <p:spPr>
          <a:xfrm xmlns:a="http://schemas.openxmlformats.org/drawingml/2006/main">
            <a:off x="10287000" y="28765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677A8"/>
                </a:solidFill>
                <a:latin typeface="Hiragino Sans"/>
                <a:ea typeface="Hiragino Sans"/>
                <a:cs typeface="Hiragino Sans"/>
              </a:defRPr>
            </a:pPr>
            <a:r>
              <a:rPr sz="2025" b="1">
                <a:solidFill>
                  <a:srgbClr val="1677A8"/>
                </a:solidFill>
                <a:latin typeface="Hiragino Sans"/>
                <a:ea typeface="Hiragino Sans"/>
                <a:cs typeface="Hiragino Sans"/>
              </a:rPr>
              <a:t>準備</a:t>
            </a:r>
          </a:p>
        </p:txBody>
      </p:sp>
      <p:sp>
        <p:nvSpPr>
          <p:cNvPr id="13" name="setup">
            <a:extLst xmlns:a="http://schemas.openxmlformats.org/drawingml/2006/main">
              <a:ext uri="{FF2B5EF4-FFF2-40B4-BE49-F238E27FC236}">
                <a16:creationId xmlns:a16="http://schemas.microsoft.com/office/drawing/2014/main" id="{4F2475CE-751A-4394-9427-0719C22E20E2}"/>
              </a:ext>
            </a:extLst>
          </p:cNvPr>
          <p:cNvSpPr>
            <a:spLocks xmlns:a="http://schemas.openxmlformats.org/drawingml/2006/main" noGrp="1"/>
          </p:cNvSpPr>
          <p:nvPr/>
        </p:nvSpPr>
        <p:spPr>
          <a:xfrm xmlns:a="http://schemas.openxmlformats.org/drawingml/2006/main">
            <a:off x="10287000" y="3276600"/>
            <a:ext cx="4476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11111"/>
                </a:solidFill>
                <a:latin typeface="Hiragino Sans"/>
                <a:ea typeface="Hiragino Sans"/>
                <a:cs typeface="Hiragino Sans"/>
              </a:defRPr>
            </a:pPr>
            <a:r>
              <a:rPr sz="1500" b="0">
                <a:solidFill>
                  <a:srgbClr val="111111"/>
                </a:solidFill>
                <a:latin typeface="Hiragino Sans"/>
                <a:ea typeface="Hiragino Sans"/>
                <a:cs typeface="Hiragino Sans"/>
              </a:rPr>
              <a:t>コーチが押さえた安定した椅子の背を両手で持つ。両足は肩幅より少し広くし、お尻を後ろへ引いて、脚のつけ根から上体を前へ倒す。</a:t>
            </a:r>
          </a:p>
        </p:txBody>
      </p:sp>
      <p:sp>
        <p:nvSpPr>
          <p:cNvPr id="14" name="sep-2">
            <a:extLst xmlns:a="http://schemas.openxmlformats.org/drawingml/2006/main">
              <a:ext uri="{FF2B5EF4-FFF2-40B4-BE49-F238E27FC236}">
                <a16:creationId xmlns:a16="http://schemas.microsoft.com/office/drawing/2014/main" id="{BC4240B1-5491-49CB-ADCE-D7A13A786C73}"/>
              </a:ext>
            </a:extLst>
          </p:cNvPr>
          <p:cNvSpPr>
            <a:spLocks xmlns:a="http://schemas.openxmlformats.org/drawingml/2006/main" noGrp="1"/>
          </p:cNvSpPr>
          <p:nvPr/>
        </p:nvSpPr>
        <p:spPr>
          <a:xfrm xmlns:a="http://schemas.openxmlformats.org/drawingml/2006/main">
            <a:off x="10287000" y="4448175"/>
            <a:ext cx="4476750" cy="19050"/>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5" name="method-title">
            <a:extLst xmlns:a="http://schemas.openxmlformats.org/drawingml/2006/main">
              <a:ext uri="{FF2B5EF4-FFF2-40B4-BE49-F238E27FC236}">
                <a16:creationId xmlns:a16="http://schemas.microsoft.com/office/drawing/2014/main" id="{AE728F20-EA7B-4E85-837D-DF6B21F0ACD4}"/>
              </a:ext>
            </a:extLst>
          </p:cNvPr>
          <p:cNvSpPr>
            <a:spLocks xmlns:a="http://schemas.openxmlformats.org/drawingml/2006/main" noGrp="1"/>
          </p:cNvSpPr>
          <p:nvPr/>
        </p:nvSpPr>
        <p:spPr>
          <a:xfrm xmlns:a="http://schemas.openxmlformats.org/drawingml/2006/main">
            <a:off x="10287000" y="46101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955125"/>
                </a:solidFill>
                <a:latin typeface="Hiragino Sans"/>
                <a:ea typeface="Hiragino Sans"/>
                <a:cs typeface="Hiragino Sans"/>
              </a:defRPr>
            </a:pPr>
            <a:r>
              <a:rPr sz="2025" b="1">
                <a:solidFill>
                  <a:srgbClr val="955125"/>
                </a:solidFill>
                <a:latin typeface="Hiragino Sans"/>
                <a:ea typeface="Hiragino Sans"/>
                <a:cs typeface="Hiragino Sans"/>
              </a:rPr>
              <a:t>やり方</a:t>
            </a:r>
          </a:p>
        </p:txBody>
      </p:sp>
      <p:sp>
        <p:nvSpPr>
          <p:cNvPr id="16" name="method">
            <a:extLst xmlns:a="http://schemas.openxmlformats.org/drawingml/2006/main">
              <a:ext uri="{FF2B5EF4-FFF2-40B4-BE49-F238E27FC236}">
                <a16:creationId xmlns:a16="http://schemas.microsoft.com/office/drawing/2014/main" id="{481A10B8-82EB-4508-B8E0-6F8D26A09DF3}"/>
              </a:ext>
            </a:extLst>
          </p:cNvPr>
          <p:cNvSpPr>
            <a:spLocks xmlns:a="http://schemas.openxmlformats.org/drawingml/2006/main" noGrp="1"/>
          </p:cNvSpPr>
          <p:nvPr/>
        </p:nvSpPr>
        <p:spPr>
          <a:xfrm xmlns:a="http://schemas.openxmlformats.org/drawingml/2006/main">
            <a:off x="10287000" y="4991100"/>
            <a:ext cx="4476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111111"/>
                </a:solidFill>
                <a:latin typeface="Hiragino Sans"/>
                <a:ea typeface="Hiragino Sans"/>
                <a:cs typeface="Hiragino Sans"/>
              </a:defRPr>
            </a:pPr>
            <a:r>
              <a:rPr sz="1350" b="0">
                <a:solidFill>
                  <a:srgbClr val="111111"/>
                </a:solidFill>
                <a:latin typeface="Hiragino Sans"/>
                <a:ea typeface="Hiragino Sans"/>
                <a:cs typeface="Hiragino Sans"/>
              </a:rPr>
              <a:t>① ストレッチでは、腰の側面が移動方向の足より外へ出るまで、左右へゆっくり動かす。</a:t>
            </a:r>
          </a:p>
          <a:p xmlns:a="http://schemas.openxmlformats.org/drawingml/2006/main">
            <a:pPr algn="l">
              <a:defRPr sz="1350" b="0">
                <a:solidFill>
                  <a:srgbClr val="111111"/>
                </a:solidFill>
                <a:latin typeface="Hiragino Sans"/>
                <a:ea typeface="Hiragino Sans"/>
                <a:cs typeface="Hiragino Sans"/>
              </a:defRPr>
            </a:pPr>
            <a:r>
              <a:rPr sz="1350" b="0">
                <a:solidFill>
                  <a:srgbClr val="111111"/>
                </a:solidFill>
                <a:latin typeface="Hiragino Sans"/>
                <a:ea typeface="Hiragino Sans"/>
                <a:cs typeface="Hiragino Sans"/>
              </a:rPr>
              <a:t>② 右打者は、右腰側から左へ移し、左腰を左股関節の真上で止める。</a:t>
            </a:r>
          </a:p>
          <a:p xmlns:a="http://schemas.openxmlformats.org/drawingml/2006/main">
            <a:pPr algn="l">
              <a:defRPr sz="1350" b="0">
                <a:solidFill>
                  <a:srgbClr val="111111"/>
                </a:solidFill>
                <a:latin typeface="Hiragino Sans"/>
                <a:ea typeface="Hiragino Sans"/>
                <a:cs typeface="Hiragino Sans"/>
              </a:defRPr>
            </a:pPr>
            <a:r>
              <a:rPr sz="1350" b="0">
                <a:solidFill>
                  <a:srgbClr val="111111"/>
                </a:solidFill>
                <a:latin typeface="Hiragino Sans"/>
                <a:ea typeface="Hiragino Sans"/>
                <a:cs typeface="Hiragino Sans"/>
              </a:rPr>
              <a:t>③ 下半身の位置を保ったまま椅子から手を離し、上体を起こす。</a:t>
            </a:r>
          </a:p>
          <a:p xmlns:a="http://schemas.openxmlformats.org/drawingml/2006/main">
            <a:pPr algn="l">
              <a:defRPr sz="1350" b="0">
                <a:solidFill>
                  <a:srgbClr val="111111"/>
                </a:solidFill>
                <a:latin typeface="Hiragino Sans"/>
                <a:ea typeface="Hiragino Sans"/>
                <a:cs typeface="Hiragino Sans"/>
              </a:defRPr>
            </a:pPr>
            <a:r>
              <a:rPr sz="1350" b="0">
                <a:solidFill>
                  <a:srgbClr val="111111"/>
                </a:solidFill>
                <a:latin typeface="Hiragino Sans"/>
                <a:ea typeface="Hiragino Sans"/>
                <a:cs typeface="Hiragino Sans"/>
              </a:rPr>
              <a:t>④ 左股関節を支点に回り、右腰を投手方向へ進める。</a:t>
            </a:r>
          </a:p>
        </p:txBody>
      </p:sp>
      <p:sp>
        <p:nvSpPr>
          <p:cNvPr id="17" name="sep-3">
            <a:extLst xmlns:a="http://schemas.openxmlformats.org/drawingml/2006/main">
              <a:ext uri="{FF2B5EF4-FFF2-40B4-BE49-F238E27FC236}">
                <a16:creationId xmlns:a16="http://schemas.microsoft.com/office/drawing/2014/main" id="{D3D5A001-A73C-4E99-9AF9-92BB1E583FE1}"/>
              </a:ext>
            </a:extLst>
          </p:cNvPr>
          <p:cNvSpPr>
            <a:spLocks xmlns:a="http://schemas.openxmlformats.org/drawingml/2006/main" noGrp="1"/>
          </p:cNvSpPr>
          <p:nvPr/>
        </p:nvSpPr>
        <p:spPr>
          <a:xfrm xmlns:a="http://schemas.openxmlformats.org/drawingml/2006/main">
            <a:off x="10287000" y="7524750"/>
            <a:ext cx="4476750" cy="19050"/>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18" name="cue-title">
            <a:extLst xmlns:a="http://schemas.openxmlformats.org/drawingml/2006/main">
              <a:ext uri="{FF2B5EF4-FFF2-40B4-BE49-F238E27FC236}">
                <a16:creationId xmlns:a16="http://schemas.microsoft.com/office/drawing/2014/main" id="{BF8ECD00-29F1-48A9-8031-194BD2971FE2}"/>
              </a:ext>
            </a:extLst>
          </p:cNvPr>
          <p:cNvSpPr>
            <a:spLocks xmlns:a="http://schemas.openxmlformats.org/drawingml/2006/main" noGrp="1"/>
          </p:cNvSpPr>
          <p:nvPr/>
        </p:nvSpPr>
        <p:spPr>
          <a:xfrm xmlns:a="http://schemas.openxmlformats.org/drawingml/2006/main">
            <a:off x="10287000" y="76771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677A8"/>
                </a:solidFill>
                <a:latin typeface="Hiragino Sans"/>
                <a:ea typeface="Hiragino Sans"/>
                <a:cs typeface="Hiragino Sans"/>
              </a:defRPr>
            </a:pPr>
            <a:r>
              <a:rPr sz="2025" b="1">
                <a:solidFill>
                  <a:srgbClr val="1677A8"/>
                </a:solidFill>
                <a:latin typeface="Hiragino Sans"/>
                <a:ea typeface="Hiragino Sans"/>
                <a:cs typeface="Hiragino Sans"/>
              </a:rPr>
              <a:t>選手に言う一言</a:t>
            </a:r>
          </a:p>
        </p:txBody>
      </p:sp>
      <p:sp>
        <p:nvSpPr>
          <p:cNvPr id="19" name="cue">
            <a:extLst xmlns:a="http://schemas.openxmlformats.org/drawingml/2006/main">
              <a:ext uri="{FF2B5EF4-FFF2-40B4-BE49-F238E27FC236}">
                <a16:creationId xmlns:a16="http://schemas.microsoft.com/office/drawing/2014/main" id="{B5708D49-530E-4370-9080-E1F540BB4018}"/>
              </a:ext>
            </a:extLst>
          </p:cNvPr>
          <p:cNvSpPr>
            <a:spLocks xmlns:a="http://schemas.openxmlformats.org/drawingml/2006/main" noGrp="1"/>
          </p:cNvSpPr>
          <p:nvPr/>
        </p:nvSpPr>
        <p:spPr>
          <a:xfrm xmlns:a="http://schemas.openxmlformats.org/drawingml/2006/main">
            <a:off x="10287000" y="80581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11111"/>
                </a:solidFill>
                <a:latin typeface="Hiragino Sans"/>
                <a:ea typeface="Hiragino Sans"/>
                <a:cs typeface="Hiragino Sans"/>
              </a:defRPr>
            </a:pPr>
            <a:r>
              <a:rPr sz="1650" b="1">
                <a:solidFill>
                  <a:srgbClr val="111111"/>
                </a:solidFill>
                <a:latin typeface="Hiragino Sans"/>
                <a:ea typeface="Hiragino Sans"/>
                <a:cs typeface="Hiragino Sans"/>
              </a:rPr>
              <a:t>「右から左へ。左に乗ったら、左で回る」</a:t>
            </a:r>
          </a:p>
        </p:txBody>
      </p:sp>
      <p:sp>
        <p:nvSpPr>
          <p:cNvPr id="20" name="check-title">
            <a:extLst xmlns:a="http://schemas.openxmlformats.org/drawingml/2006/main">
              <a:ext uri="{FF2B5EF4-FFF2-40B4-BE49-F238E27FC236}">
                <a16:creationId xmlns:a16="http://schemas.microsoft.com/office/drawing/2014/main" id="{CA60784B-9B56-496D-AA15-107B08BC7A27}"/>
              </a:ext>
            </a:extLst>
          </p:cNvPr>
          <p:cNvSpPr>
            <a:spLocks xmlns:a="http://schemas.openxmlformats.org/drawingml/2006/main" noGrp="1"/>
          </p:cNvSpPr>
          <p:nvPr/>
        </p:nvSpPr>
        <p:spPr>
          <a:xfrm xmlns:a="http://schemas.openxmlformats.org/drawingml/2006/main">
            <a:off x="10287000" y="87249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677A8"/>
                </a:solidFill>
                <a:latin typeface="Hiragino Sans"/>
                <a:ea typeface="Hiragino Sans"/>
                <a:cs typeface="Hiragino Sans"/>
              </a:defRPr>
            </a:pPr>
            <a:r>
              <a:rPr sz="2025" b="1">
                <a:solidFill>
                  <a:srgbClr val="1677A8"/>
                </a:solidFill>
                <a:latin typeface="Hiragino Sans"/>
                <a:ea typeface="Hiragino Sans"/>
                <a:cs typeface="Hiragino Sans"/>
              </a:rPr>
              <a:t>できていたら</a:t>
            </a:r>
          </a:p>
        </p:txBody>
      </p:sp>
      <p:sp>
        <p:nvSpPr>
          <p:cNvPr id="21" name="check">
            <a:extLst xmlns:a="http://schemas.openxmlformats.org/drawingml/2006/main">
              <a:ext uri="{FF2B5EF4-FFF2-40B4-BE49-F238E27FC236}">
                <a16:creationId xmlns:a16="http://schemas.microsoft.com/office/drawing/2014/main" id="{6131E8D6-392F-4757-A801-333C9CB7996D}"/>
              </a:ext>
            </a:extLst>
          </p:cNvPr>
          <p:cNvSpPr>
            <a:spLocks xmlns:a="http://schemas.openxmlformats.org/drawingml/2006/main" noGrp="1"/>
          </p:cNvSpPr>
          <p:nvPr/>
        </p:nvSpPr>
        <p:spPr>
          <a:xfrm xmlns:a="http://schemas.openxmlformats.org/drawingml/2006/main">
            <a:off x="10287000" y="9105900"/>
            <a:ext cx="4476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111111"/>
                </a:solidFill>
                <a:latin typeface="Hiragino Sans"/>
                <a:ea typeface="Hiragino Sans"/>
                <a:cs typeface="Hiragino Sans"/>
              </a:defRPr>
            </a:pPr>
            <a:r>
              <a:rPr sz="1350" b="0">
                <a:solidFill>
                  <a:srgbClr val="111111"/>
                </a:solidFill>
                <a:latin typeface="Hiragino Sans"/>
                <a:ea typeface="Hiragino Sans"/>
                <a:cs typeface="Hiragino Sans"/>
              </a:rPr>
              <a:t>・ストレッチでは、左右とも腰の側面が足より外へ出る</a:t>
            </a:r>
          </a:p>
          <a:p xmlns:a="http://schemas.openxmlformats.org/drawingml/2006/main">
            <a:pPr algn="l">
              <a:defRPr sz="1350" b="0">
                <a:solidFill>
                  <a:srgbClr val="111111"/>
                </a:solidFill>
                <a:latin typeface="Hiragino Sans"/>
                <a:ea typeface="Hiragino Sans"/>
                <a:cs typeface="Hiragino Sans"/>
              </a:defRPr>
            </a:pPr>
            <a:r>
              <a:rPr sz="1350" b="0">
                <a:solidFill>
                  <a:srgbClr val="111111"/>
                </a:solidFill>
                <a:latin typeface="Hiragino Sans"/>
                <a:ea typeface="Hiragino Sans"/>
                <a:cs typeface="Hiragino Sans"/>
              </a:rPr>
              <a:t>・右打者では、左腰が左股関節の真上で止まる</a:t>
            </a:r>
          </a:p>
          <a:p xmlns:a="http://schemas.openxmlformats.org/drawingml/2006/main">
            <a:pPr algn="l">
              <a:defRPr sz="1350" b="0">
                <a:solidFill>
                  <a:srgbClr val="111111"/>
                </a:solidFill>
                <a:latin typeface="Hiragino Sans"/>
                <a:ea typeface="Hiragino Sans"/>
                <a:cs typeface="Hiragino Sans"/>
              </a:defRPr>
            </a:pPr>
            <a:r>
              <a:rPr sz="1350" b="0">
                <a:solidFill>
                  <a:srgbClr val="111111"/>
                </a:solidFill>
                <a:latin typeface="Hiragino Sans"/>
                <a:ea typeface="Hiragino Sans"/>
                <a:cs typeface="Hiragino Sans"/>
              </a:rPr>
              <a:t>・椅子を外しても、体重が右へ戻らない</a:t>
            </a:r>
          </a:p>
          <a:p xmlns:a="http://schemas.openxmlformats.org/drawingml/2006/main">
            <a:pPr algn="l">
              <a:defRPr sz="1350" b="0">
                <a:solidFill>
                  <a:srgbClr val="111111"/>
                </a:solidFill>
                <a:latin typeface="Hiragino Sans"/>
                <a:ea typeface="Hiragino Sans"/>
                <a:cs typeface="Hiragino Sans"/>
              </a:defRPr>
            </a:pPr>
            <a:r>
              <a:rPr sz="1350" b="0">
                <a:solidFill>
                  <a:srgbClr val="111111"/>
                </a:solidFill>
                <a:latin typeface="Hiragino Sans"/>
                <a:ea typeface="Hiragino Sans"/>
                <a:cs typeface="Hiragino Sans"/>
              </a:rPr>
              <a:t>・左股関節を支点に、右腰が前へ進む</a:t>
            </a:r>
          </a:p>
        </p:txBody>
      </p:sp>
      <p:sp>
        <p:nvSpPr>
          <p:cNvPr id="22" name="warning-title">
            <a:extLst xmlns:a="http://schemas.openxmlformats.org/drawingml/2006/main">
              <a:ext uri="{FF2B5EF4-FFF2-40B4-BE49-F238E27FC236}">
                <a16:creationId xmlns:a16="http://schemas.microsoft.com/office/drawing/2014/main" id="{2DE37E38-541F-41BD-AEC7-235032C0C625}"/>
              </a:ext>
            </a:extLst>
          </p:cNvPr>
          <p:cNvSpPr>
            <a:spLocks xmlns:a="http://schemas.openxmlformats.org/drawingml/2006/main" noGrp="1"/>
          </p:cNvSpPr>
          <p:nvPr/>
        </p:nvSpPr>
        <p:spPr>
          <a:xfrm xmlns:a="http://schemas.openxmlformats.org/drawingml/2006/main">
            <a:off x="10287000" y="10572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B3261E"/>
                </a:solidFill>
                <a:latin typeface="Hiragino Sans"/>
                <a:ea typeface="Hiragino Sans"/>
                <a:cs typeface="Hiragino Sans"/>
              </a:defRPr>
            </a:pPr>
            <a:r>
              <a:rPr sz="1800" b="1">
                <a:solidFill>
                  <a:srgbClr val="B3261E"/>
                </a:solidFill>
                <a:latin typeface="Hiragino Sans"/>
                <a:ea typeface="Hiragino Sans"/>
                <a:cs typeface="Hiragino Sans"/>
              </a:rPr>
              <a:t>混ぜない</a:t>
            </a:r>
          </a:p>
        </p:txBody>
      </p:sp>
      <p:sp>
        <p:nvSpPr>
          <p:cNvPr id="23" name="warning">
            <a:extLst xmlns:a="http://schemas.openxmlformats.org/drawingml/2006/main">
              <a:ext uri="{FF2B5EF4-FFF2-40B4-BE49-F238E27FC236}">
                <a16:creationId xmlns:a16="http://schemas.microsoft.com/office/drawing/2014/main" id="{4C580415-D86E-468D-B150-3A0F8FF87A7F}"/>
              </a:ext>
            </a:extLst>
          </p:cNvPr>
          <p:cNvSpPr>
            <a:spLocks xmlns:a="http://schemas.openxmlformats.org/drawingml/2006/main" noGrp="1"/>
          </p:cNvSpPr>
          <p:nvPr/>
        </p:nvSpPr>
        <p:spPr>
          <a:xfrm xmlns:a="http://schemas.openxmlformats.org/drawingml/2006/main">
            <a:off x="10287000" y="10906125"/>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111111"/>
                </a:solidFill>
                <a:latin typeface="Hiragino Sans"/>
                <a:ea typeface="Hiragino Sans"/>
                <a:cs typeface="Hiragino Sans"/>
              </a:defRPr>
            </a:pPr>
            <a:r>
              <a:rPr sz="1350" b="0">
                <a:solidFill>
                  <a:srgbClr val="111111"/>
                </a:solidFill>
                <a:latin typeface="Hiragino Sans"/>
                <a:ea typeface="Hiragino Sans"/>
                <a:cs typeface="Hiragino Sans"/>
              </a:rPr>
              <a:t>ストレッチの大きな移動幅を打撃で再現しない。左膝を棒のように固めず、左へ移る前に回り始めない。</a:t>
            </a:r>
          </a:p>
        </p:txBody>
      </p:sp>
      <p:sp>
        <p:nvSpPr>
          <p:cNvPr id="24" name="footer">
            <a:extLst xmlns:a="http://schemas.openxmlformats.org/drawingml/2006/main">
              <a:ext uri="{FF2B5EF4-FFF2-40B4-BE49-F238E27FC236}">
                <a16:creationId xmlns:a16="http://schemas.microsoft.com/office/drawing/2014/main" id="{108AE98F-A308-4475-A13E-DBC2C4F140CC}"/>
              </a:ext>
            </a:extLst>
          </p:cNvPr>
          <p:cNvSpPr>
            <a:spLocks xmlns:a="http://schemas.openxmlformats.org/drawingml/2006/main" noGrp="1"/>
          </p:cNvSpPr>
          <p:nvPr/>
        </p:nvSpPr>
        <p:spPr>
          <a:xfrm xmlns:a="http://schemas.openxmlformats.org/drawingml/2006/main">
            <a:off x="381000" y="11544300"/>
            <a:ext cx="1447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000000"/>
                </a:solidFill>
                <a:latin typeface="Hiragino Sans"/>
                <a:ea typeface="Hiragino Sans"/>
                <a:cs typeface="Hiragino Sans"/>
              </a:defRPr>
            </a:pPr>
            <a:r>
              <a:rPr sz="1350" b="1">
                <a:solidFill>
                  <a:srgbClr val="000000"/>
                </a:solidFill>
                <a:latin typeface="Hiragino Sans"/>
                <a:ea typeface="Hiragino Sans"/>
                <a:cs typeface="Hiragino Sans"/>
              </a:rPr>
              <a:t>上段は左右の可動域づくり。下段は右打者の体重移動と回転。目的と移動幅が異なる。</a:t>
            </a:r>
          </a:p>
        </p:txBody>
      </p:sp>
    </p:spTree>
    <p:extLst>
      <p:ext uri="{BB962C8B-B14F-4D97-AF65-F5344CB8AC3E}">
        <p14:creationId xmlns:p14="http://schemas.microsoft.com/office/powerpoint/2010/main" val="10566451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2026-09-16T12:48:39.6110000Z</dcterms:created>
  <dcterms:modified xsi:type="dcterms:W3CDTF">2026-09-16T12:48:39.6110000Z</dcterms:modified>
</coreProperties>
</file>