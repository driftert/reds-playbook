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e032bc20a14384" /><Relationship Type="http://schemas.openxmlformats.org/officeDocument/2006/relationships/extended-properties" Target="/docProps/app.xml" Id="Rba625f5adecf4e2c" /><Relationship Type="http://schemas.openxmlformats.org/officeDocument/2006/relationships/officeDocument" Target="/ppt/presentation.xml" Id="R9b8adb1bd7314fa3" /></Relationships>
</file>

<file path=ppt/presentation.xml><?xml version="1.0" encoding="utf-8"?>
<p:presentation xmlns:p="http://schemas.openxmlformats.org/presentationml/2006/main">
  <p:sldMasterIdLst>
    <p:sldMasterId xmlns:r="http://schemas.openxmlformats.org/officeDocument/2006/relationships" id="2147483648" r:id="R75d92b2df30b4ba1"/>
  </p:sldMasterIdLst>
  <p:notesMasterIdLst>
    <p:notesMasterId xmlns:r="http://schemas.openxmlformats.org/officeDocument/2006/relationships" r:id="Rd40e15d93e614f32"/>
  </p:notesMasterIdLst>
  <p:sldIdLst>
    <p:sldId xmlns:r="http://schemas.openxmlformats.org/officeDocument/2006/relationships" id="256" r:id="R20029779ec1e4edd"/>
  </p:sldIdLst>
  <p:sldSz cx="15240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fe605fe7324e4b" /><Relationship Type="http://schemas.openxmlformats.org/officeDocument/2006/relationships/slideMaster" Target="/ppt/slideMasters/slideMaster1.xml" Id="R75d92b2df30b4ba1" /><Relationship Type="http://schemas.openxmlformats.org/officeDocument/2006/relationships/notesMaster" Target="/ppt/notesMasters/notesMaster1.xml" Id="Rd40e15d93e614f32" /><Relationship Type="http://schemas.openxmlformats.org/officeDocument/2006/relationships/presProps" Target="/ppt/presProps.xml" Id="Rc0ba95d78e3d4b3b" /><Relationship Type="http://schemas.openxmlformats.org/officeDocument/2006/relationships/tableStyles" Target="/ppt/tableStyles.xml" Id="R2bfec77d36504350" /><Relationship Type="http://schemas.openxmlformats.org/officeDocument/2006/relationships/slide" Target="/ppt/slides/slide1.xml" Id="R20029779ec1e4e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64d42156a946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bacd9fcfb04380" /><Relationship Type="http://schemas.openxmlformats.org/officeDocument/2006/relationships/notesMaster" Target="/ppt/notesMasters/notesMaster1.xml" Id="Rb9772d32a3eb4e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万波、近藤、村上、中田の共有スロー動画をブラウザ上でコマ送り確認。8は肩から動き出してからバットが前へ出るまでの中間姿勢を参照し、腕と胴体の間に空間を残した生成模式図。画像から荷重やエネルギーの量は判断しない。移動と回転は重なりながら進む。前脚を固める指示はしない。図の人物・位置はオーナーによる動作確認が必要。その他の参照URLは以前の共有6選手動画。</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191ef110ad47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eef82c2976488e" /><Relationship Type="http://schemas.openxmlformats.org/officeDocument/2006/relationships/slideLayout" Target="/ppt/slideLayouts/slideLayout1.xml" Id="Ree6d2b360ccd4e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6d2b360ccd4e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9345df7ecb40aa" /><Relationship Type="http://schemas.openxmlformats.org/officeDocument/2006/relationships/image" Target="/ppt/media/image.png" Id="R3427cfdc9aee446f" /><Relationship Type="http://schemas.openxmlformats.org/officeDocument/2006/relationships/notesSlide" Target="/ppt/notesSlides/notesSlide1.xml" Id="R7af5b54eca83421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08FDFCC2-89F7-421F-80DF-54F2C2459962}"/>
              </a:ext>
            </a:extLst>
          </p:cNvPr>
          <p:cNvSpPr>
            <a:spLocks xmlns:a="http://schemas.openxmlformats.org/drawingml/2006/main" noGrp="1"/>
          </p:cNvSpPr>
          <p:nvPr/>
        </p:nvSpPr>
        <p:spPr>
          <a:xfrm xmlns:a="http://schemas.openxmlformats.org/drawingml/2006/main">
            <a:off x="381000" y="190500"/>
            <a:ext cx="1447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11111"/>
                </a:solidFill>
                <a:latin typeface="Hiragino Sans"/>
                <a:ea typeface="Hiragino Sans"/>
                <a:cs typeface="Hiragino Sans"/>
              </a:defRPr>
            </a:pPr>
            <a:r>
              <a:rPr sz="3225" b="1">
                <a:solidFill>
                  <a:srgbClr val="111111"/>
                </a:solidFill>
                <a:latin typeface="Hiragino Sans"/>
                <a:ea typeface="Hiragino Sans"/>
                <a:cs typeface="Hiragino Sans"/>
              </a:rPr>
              <a:t>打撃の動作順序　体重移動からインパクト直後まで</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427cfdc9aee446f"/>
          <a:stretch xmlns:a="http://schemas.openxmlformats.org/drawingml/2006/main"/>
        </p:blipFill>
        <p:spPr>
          <a:xfrm xmlns:a="http://schemas.openxmlformats.org/drawingml/2006/main">
            <a:off x="333375" y="952500"/>
            <a:ext cx="9906000" cy="9906000"/>
          </a:xfrm>
          <a:prstGeom xmlns:a="http://schemas.openxmlformats.org/drawingml/2006/main" prst="rect">
            <a:avLst/>
          </a:prstGeom>
        </p:spPr>
      </p:pic>
      <p:sp>
        <p:nvSpPr>
          <p:cNvPr id="3" name="reading">
            <a:extLst xmlns:a="http://schemas.openxmlformats.org/drawingml/2006/main">
              <a:ext uri="{FF2B5EF4-FFF2-40B4-BE49-F238E27FC236}">
                <a16:creationId xmlns:a16="http://schemas.microsoft.com/office/drawing/2014/main" id="{CAD37EF3-8B73-408E-A247-6154C314B057}"/>
              </a:ext>
            </a:extLst>
          </p:cNvPr>
          <p:cNvSpPr>
            <a:spLocks xmlns:a="http://schemas.openxmlformats.org/drawingml/2006/main" noGrp="1"/>
          </p:cNvSpPr>
          <p:nvPr/>
        </p:nvSpPr>
        <p:spPr>
          <a:xfrm xmlns:a="http://schemas.openxmlformats.org/drawingml/2006/main">
            <a:off x="10572750" y="1000125"/>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677A8"/>
                </a:solidFill>
                <a:latin typeface="Hiragino Sans"/>
                <a:ea typeface="Hiragino Sans"/>
                <a:cs typeface="Hiragino Sans"/>
              </a:defRPr>
            </a:pPr>
            <a:r>
              <a:rPr sz="2325" b="1">
                <a:solidFill>
                  <a:srgbClr val="1677A8"/>
                </a:solidFill>
                <a:latin typeface="Hiragino Sans"/>
                <a:ea typeface="Hiragino Sans"/>
                <a:cs typeface="Hiragino Sans"/>
              </a:rPr>
              <a:t>図の読み方</a:t>
            </a:r>
          </a:p>
        </p:txBody>
      </p:sp>
      <p:sp>
        <p:nvSpPr>
          <p:cNvPr id="4" name="top-phase">
            <a:extLst xmlns:a="http://schemas.openxmlformats.org/drawingml/2006/main">
              <a:ext uri="{FF2B5EF4-FFF2-40B4-BE49-F238E27FC236}">
                <a16:creationId xmlns:a16="http://schemas.microsoft.com/office/drawing/2014/main" id="{034F8CAB-2702-48FE-B36D-3C293F7035B0}"/>
              </a:ext>
            </a:extLst>
          </p:cNvPr>
          <p:cNvSpPr>
            <a:spLocks xmlns:a="http://schemas.openxmlformats.org/drawingml/2006/main" noGrp="1"/>
          </p:cNvSpPr>
          <p:nvPr/>
        </p:nvSpPr>
        <p:spPr>
          <a:xfrm xmlns:a="http://schemas.openxmlformats.org/drawingml/2006/main">
            <a:off x="10572750" y="1571625"/>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156A94"/>
                </a:solidFill>
                <a:latin typeface="Hiragino Sans"/>
                <a:ea typeface="Hiragino Sans"/>
                <a:cs typeface="Hiragino Sans"/>
              </a:defRPr>
            </a:pPr>
            <a:r>
              <a:rPr sz="1875" b="1">
                <a:solidFill>
                  <a:srgbClr val="156A94"/>
                </a:solidFill>
                <a:latin typeface="Hiragino Sans"/>
                <a:ea typeface="Hiragino Sans"/>
                <a:cs typeface="Hiragino Sans"/>
              </a:rPr>
              <a:t>上段　体重移動・トップ・割れ</a:t>
            </a:r>
          </a:p>
        </p:txBody>
      </p:sp>
      <p:sp>
        <p:nvSpPr>
          <p:cNvPr id="5" name="top-note">
            <a:extLst xmlns:a="http://schemas.openxmlformats.org/drawingml/2006/main">
              <a:ext uri="{FF2B5EF4-FFF2-40B4-BE49-F238E27FC236}">
                <a16:creationId xmlns:a16="http://schemas.microsoft.com/office/drawing/2014/main" id="{93FCEF85-F628-4A61-B905-E5BD4BFCECE3}"/>
              </a:ext>
            </a:extLst>
          </p:cNvPr>
          <p:cNvSpPr>
            <a:spLocks xmlns:a="http://schemas.openxmlformats.org/drawingml/2006/main" noGrp="1"/>
          </p:cNvSpPr>
          <p:nvPr/>
        </p:nvSpPr>
        <p:spPr>
          <a:xfrm xmlns:a="http://schemas.openxmlformats.org/drawingml/2006/main">
            <a:off x="10572750" y="2009775"/>
            <a:ext cx="4238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11111"/>
                </a:solidFill>
                <a:latin typeface="Hiragino Sans"/>
                <a:ea typeface="Hiragino Sans"/>
                <a:cs typeface="Hiragino Sans"/>
              </a:defRPr>
            </a:pPr>
            <a:r>
              <a:rPr sz="1725" b="0">
                <a:solidFill>
                  <a:srgbClr val="111111"/>
                </a:solidFill>
                <a:latin typeface="Hiragino Sans"/>
                <a:ea typeface="Hiragino Sans"/>
                <a:cs typeface="Hiragino Sans"/>
              </a:rPr>
              <a:t>2〜5：腰を前へ運び、</a:t>
            </a:r>
          </a:p>
          <a:p xmlns:a="http://schemas.openxmlformats.org/drawingml/2006/main">
            <a:pPr>
              <a:defRPr sz="1725" b="0">
                <a:solidFill>
                  <a:srgbClr val="111111"/>
                </a:solidFill>
                <a:latin typeface="Hiragino Sans"/>
                <a:ea typeface="Hiragino Sans"/>
                <a:cs typeface="Hiragino Sans"/>
              </a:defRPr>
            </a:pPr>
            <a:r>
              <a:rPr sz="1725" b="0">
                <a:solidFill>
                  <a:srgbClr val="111111"/>
                </a:solidFill>
                <a:latin typeface="Hiragino Sans"/>
                <a:ea typeface="Hiragino Sans"/>
                <a:cs typeface="Hiragino Sans"/>
              </a:rPr>
              <a:t>着地までにトップと割れを整える。</a:t>
            </a:r>
          </a:p>
        </p:txBody>
      </p:sp>
      <p:sp>
        <p:nvSpPr>
          <p:cNvPr id="6" name="middle-phase">
            <a:extLst xmlns:a="http://schemas.openxmlformats.org/drawingml/2006/main">
              <a:ext uri="{FF2B5EF4-FFF2-40B4-BE49-F238E27FC236}">
                <a16:creationId xmlns:a16="http://schemas.microsoft.com/office/drawing/2014/main" id="{077DE75B-9695-47AF-A0D7-3E19C6B3DFF2}"/>
              </a:ext>
            </a:extLst>
          </p:cNvPr>
          <p:cNvSpPr>
            <a:spLocks xmlns:a="http://schemas.openxmlformats.org/drawingml/2006/main" noGrp="1"/>
          </p:cNvSpPr>
          <p:nvPr/>
        </p:nvSpPr>
        <p:spPr>
          <a:xfrm xmlns:a="http://schemas.openxmlformats.org/drawingml/2006/main">
            <a:off x="10572750" y="3067050"/>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955125"/>
                </a:solidFill>
                <a:latin typeface="Hiragino Sans"/>
                <a:ea typeface="Hiragino Sans"/>
                <a:cs typeface="Hiragino Sans"/>
              </a:defRPr>
            </a:pPr>
            <a:r>
              <a:rPr sz="1875" b="1">
                <a:solidFill>
                  <a:srgbClr val="955125"/>
                </a:solidFill>
                <a:latin typeface="Hiragino Sans"/>
                <a:ea typeface="Hiragino Sans"/>
                <a:cs typeface="Hiragino Sans"/>
              </a:rPr>
              <a:t>中段　肩で始動・上体回転</a:t>
            </a:r>
          </a:p>
        </p:txBody>
      </p:sp>
      <p:sp>
        <p:nvSpPr>
          <p:cNvPr id="7" name="middle-note">
            <a:extLst xmlns:a="http://schemas.openxmlformats.org/drawingml/2006/main">
              <a:ext uri="{FF2B5EF4-FFF2-40B4-BE49-F238E27FC236}">
                <a16:creationId xmlns:a16="http://schemas.microsoft.com/office/drawing/2014/main" id="{BE9A3F49-DAE5-481A-8D35-43A6965C15F8}"/>
              </a:ext>
            </a:extLst>
          </p:cNvPr>
          <p:cNvSpPr>
            <a:spLocks xmlns:a="http://schemas.openxmlformats.org/drawingml/2006/main" noGrp="1"/>
          </p:cNvSpPr>
          <p:nvPr/>
        </p:nvSpPr>
        <p:spPr>
          <a:xfrm xmlns:a="http://schemas.openxmlformats.org/drawingml/2006/main">
            <a:off x="10572750" y="3524250"/>
            <a:ext cx="4238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11111"/>
                </a:solidFill>
                <a:latin typeface="Hiragino Sans"/>
                <a:ea typeface="Hiragino Sans"/>
                <a:cs typeface="Hiragino Sans"/>
              </a:defRPr>
            </a:pPr>
            <a:r>
              <a:rPr sz="1725" b="0">
                <a:solidFill>
                  <a:srgbClr val="111111"/>
                </a:solidFill>
                <a:latin typeface="Hiragino Sans"/>
                <a:ea typeface="Hiragino Sans"/>
                <a:cs typeface="Hiragino Sans"/>
              </a:rPr>
              <a:t>7・8：ボトムハンド側の肩から始動。</a:t>
            </a:r>
          </a:p>
          <a:p xmlns:a="http://schemas.openxmlformats.org/drawingml/2006/main">
            <a:pPr>
              <a:defRPr sz="1725" b="0">
                <a:solidFill>
                  <a:srgbClr val="111111"/>
                </a:solidFill>
                <a:latin typeface="Hiragino Sans"/>
                <a:ea typeface="Hiragino Sans"/>
                <a:cs typeface="Hiragino Sans"/>
              </a:defRPr>
            </a:pPr>
            <a:r>
              <a:rPr sz="1725" b="0">
                <a:solidFill>
                  <a:srgbClr val="111111"/>
                </a:solidFill>
                <a:latin typeface="Hiragino Sans"/>
                <a:ea typeface="Hiragino Sans"/>
                <a:cs typeface="Hiragino Sans"/>
              </a:rPr>
              <a:t>踏み出し足を支点に、移動の力を</a:t>
            </a:r>
          </a:p>
          <a:p xmlns:a="http://schemas.openxmlformats.org/drawingml/2006/main">
            <a:pPr>
              <a:defRPr sz="1725" b="0">
                <a:solidFill>
                  <a:srgbClr val="111111"/>
                </a:solidFill>
                <a:latin typeface="Hiragino Sans"/>
                <a:ea typeface="Hiragino Sans"/>
                <a:cs typeface="Hiragino Sans"/>
              </a:defRPr>
            </a:pPr>
            <a:r>
              <a:rPr sz="1725" b="0">
                <a:solidFill>
                  <a:srgbClr val="111111"/>
                </a:solidFill>
                <a:latin typeface="Hiragino Sans"/>
                <a:ea typeface="Hiragino Sans"/>
                <a:cs typeface="Hiragino Sans"/>
              </a:rPr>
              <a:t>上体回転へつなぐ。</a:t>
            </a:r>
          </a:p>
        </p:txBody>
      </p:sp>
      <p:sp>
        <p:nvSpPr>
          <p:cNvPr id="8" name="middle-follow">
            <a:extLst xmlns:a="http://schemas.openxmlformats.org/drawingml/2006/main">
              <a:ext uri="{FF2B5EF4-FFF2-40B4-BE49-F238E27FC236}">
                <a16:creationId xmlns:a16="http://schemas.microsoft.com/office/drawing/2014/main" id="{E62D3FBB-98C0-40FA-BD1A-D65807CA91CC}"/>
              </a:ext>
            </a:extLst>
          </p:cNvPr>
          <p:cNvSpPr>
            <a:spLocks xmlns:a="http://schemas.openxmlformats.org/drawingml/2006/main" noGrp="1"/>
          </p:cNvSpPr>
          <p:nvPr/>
        </p:nvSpPr>
        <p:spPr>
          <a:xfrm xmlns:a="http://schemas.openxmlformats.org/drawingml/2006/main">
            <a:off x="10572750" y="4591050"/>
            <a:ext cx="4238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11111"/>
                </a:solidFill>
                <a:latin typeface="Hiragino Sans"/>
                <a:ea typeface="Hiragino Sans"/>
                <a:cs typeface="Hiragino Sans"/>
              </a:defRPr>
            </a:pPr>
            <a:r>
              <a:rPr sz="1725" b="0">
                <a:solidFill>
                  <a:srgbClr val="111111"/>
                </a:solidFill>
                <a:latin typeface="Hiragino Sans"/>
                <a:ea typeface="Hiragino Sans"/>
                <a:cs typeface="Hiragino Sans"/>
              </a:rPr>
              <a:t>9〜10：胸・腕・バットが続く。</a:t>
            </a:r>
          </a:p>
        </p:txBody>
      </p:sp>
      <p:sp>
        <p:nvSpPr>
          <p:cNvPr id="9" name="bottom-phase">
            <a:extLst xmlns:a="http://schemas.openxmlformats.org/drawingml/2006/main">
              <a:ext uri="{FF2B5EF4-FFF2-40B4-BE49-F238E27FC236}">
                <a16:creationId xmlns:a16="http://schemas.microsoft.com/office/drawing/2014/main" id="{A563B8E4-971A-4AF0-9938-933804137473}"/>
              </a:ext>
            </a:extLst>
          </p:cNvPr>
          <p:cNvSpPr>
            <a:spLocks xmlns:a="http://schemas.openxmlformats.org/drawingml/2006/main" noGrp="1"/>
          </p:cNvSpPr>
          <p:nvPr/>
        </p:nvSpPr>
        <p:spPr>
          <a:xfrm xmlns:a="http://schemas.openxmlformats.org/drawingml/2006/main">
            <a:off x="10572750" y="5324475"/>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111111"/>
                </a:solidFill>
                <a:latin typeface="Hiragino Sans"/>
                <a:ea typeface="Hiragino Sans"/>
                <a:cs typeface="Hiragino Sans"/>
              </a:defRPr>
            </a:pPr>
            <a:r>
              <a:rPr sz="1875" b="1">
                <a:solidFill>
                  <a:srgbClr val="111111"/>
                </a:solidFill>
                <a:latin typeface="Hiragino Sans"/>
                <a:ea typeface="Hiragino Sans"/>
                <a:cs typeface="Hiragino Sans"/>
              </a:rPr>
              <a:t>下段　インパクトの前後</a:t>
            </a:r>
          </a:p>
        </p:txBody>
      </p:sp>
      <p:sp>
        <p:nvSpPr>
          <p:cNvPr id="10" name="bottom-note">
            <a:extLst xmlns:a="http://schemas.openxmlformats.org/drawingml/2006/main">
              <a:ext uri="{FF2B5EF4-FFF2-40B4-BE49-F238E27FC236}">
                <a16:creationId xmlns:a16="http://schemas.microsoft.com/office/drawing/2014/main" id="{79EC7B2A-8CF8-440A-BF58-E0DC9B9A0E12}"/>
              </a:ext>
            </a:extLst>
          </p:cNvPr>
          <p:cNvSpPr>
            <a:spLocks xmlns:a="http://schemas.openxmlformats.org/drawingml/2006/main" noGrp="1"/>
          </p:cNvSpPr>
          <p:nvPr/>
        </p:nvSpPr>
        <p:spPr>
          <a:xfrm xmlns:a="http://schemas.openxmlformats.org/drawingml/2006/main">
            <a:off x="10572750" y="5781675"/>
            <a:ext cx="4238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11111"/>
                </a:solidFill>
                <a:latin typeface="Hiragino Sans"/>
                <a:ea typeface="Hiragino Sans"/>
                <a:cs typeface="Hiragino Sans"/>
              </a:defRPr>
            </a:pPr>
            <a:r>
              <a:rPr sz="1725" b="0">
                <a:solidFill>
                  <a:srgbClr val="111111"/>
                </a:solidFill>
                <a:latin typeface="Hiragino Sans"/>
                <a:ea typeface="Hiragino Sans"/>
                <a:cs typeface="Hiragino Sans"/>
              </a:rPr>
              <a:t>11：直前　12：接触</a:t>
            </a:r>
          </a:p>
          <a:p xmlns:a="http://schemas.openxmlformats.org/drawingml/2006/main">
            <a:pPr>
              <a:defRPr sz="1725" b="0">
                <a:solidFill>
                  <a:srgbClr val="111111"/>
                </a:solidFill>
                <a:latin typeface="Hiragino Sans"/>
                <a:ea typeface="Hiragino Sans"/>
                <a:cs typeface="Hiragino Sans"/>
              </a:defRPr>
            </a:pPr>
            <a:r>
              <a:rPr sz="1725" b="0">
                <a:solidFill>
                  <a:srgbClr val="111111"/>
                </a:solidFill>
                <a:latin typeface="Hiragino Sans"/>
                <a:ea typeface="Hiragino Sans"/>
                <a:cs typeface="Hiragino Sans"/>
              </a:rPr>
              <a:t>13〜14：当たった後の振り抜き</a:t>
            </a:r>
          </a:p>
        </p:txBody>
      </p:sp>
      <p:sp>
        <p:nvSpPr>
          <p:cNvPr id="11" name="cue-title">
            <a:extLst xmlns:a="http://schemas.openxmlformats.org/drawingml/2006/main">
              <a:ext uri="{FF2B5EF4-FFF2-40B4-BE49-F238E27FC236}">
                <a16:creationId xmlns:a16="http://schemas.microsoft.com/office/drawing/2014/main" id="{DE88B98E-6B03-47D2-8881-A2C3EDD4BF1A}"/>
              </a:ext>
            </a:extLst>
          </p:cNvPr>
          <p:cNvSpPr>
            <a:spLocks xmlns:a="http://schemas.openxmlformats.org/drawingml/2006/main" noGrp="1"/>
          </p:cNvSpPr>
          <p:nvPr/>
        </p:nvSpPr>
        <p:spPr>
          <a:xfrm xmlns:a="http://schemas.openxmlformats.org/drawingml/2006/main">
            <a:off x="10572750" y="6981825"/>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677A8"/>
                </a:solidFill>
                <a:latin typeface="Hiragino Sans"/>
                <a:ea typeface="Hiragino Sans"/>
                <a:cs typeface="Hiragino Sans"/>
              </a:defRPr>
            </a:pPr>
            <a:r>
              <a:rPr sz="2175" b="1">
                <a:solidFill>
                  <a:srgbClr val="1677A8"/>
                </a:solidFill>
                <a:latin typeface="Hiragino Sans"/>
                <a:ea typeface="Hiragino Sans"/>
                <a:cs typeface="Hiragino Sans"/>
              </a:rPr>
              <a:t>選手に言う一言</a:t>
            </a:r>
          </a:p>
        </p:txBody>
      </p:sp>
      <p:sp>
        <p:nvSpPr>
          <p:cNvPr id="12" name="cue">
            <a:extLst xmlns:a="http://schemas.openxmlformats.org/drawingml/2006/main">
              <a:ext uri="{FF2B5EF4-FFF2-40B4-BE49-F238E27FC236}">
                <a16:creationId xmlns:a16="http://schemas.microsoft.com/office/drawing/2014/main" id="{41EA6184-0B79-4FE7-9B50-A80E583FE42C}"/>
              </a:ext>
            </a:extLst>
          </p:cNvPr>
          <p:cNvSpPr>
            <a:spLocks xmlns:a="http://schemas.openxmlformats.org/drawingml/2006/main" noGrp="1"/>
          </p:cNvSpPr>
          <p:nvPr/>
        </p:nvSpPr>
        <p:spPr>
          <a:xfrm xmlns:a="http://schemas.openxmlformats.org/drawingml/2006/main">
            <a:off x="10572750" y="7477125"/>
            <a:ext cx="4238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111111"/>
                </a:solidFill>
                <a:latin typeface="Hiragino Sans"/>
                <a:ea typeface="Hiragino Sans"/>
                <a:cs typeface="Hiragino Sans"/>
              </a:defRPr>
            </a:pPr>
            <a:r>
              <a:rPr sz="1725" b="1">
                <a:solidFill>
                  <a:srgbClr val="111111"/>
                </a:solidFill>
                <a:latin typeface="Hiragino Sans"/>
                <a:ea typeface="Hiragino Sans"/>
                <a:cs typeface="Hiragino Sans"/>
              </a:rPr>
              <a:t>「後ろに乗る。腰を前へ運ぶ。</a:t>
            </a:r>
          </a:p>
          <a:p xmlns:a="http://schemas.openxmlformats.org/drawingml/2006/main">
            <a:pPr>
              <a:defRPr sz="1725" b="1">
                <a:solidFill>
                  <a:srgbClr val="111111"/>
                </a:solidFill>
                <a:latin typeface="Hiragino Sans"/>
                <a:ea typeface="Hiragino Sans"/>
                <a:cs typeface="Hiragino Sans"/>
              </a:defRPr>
            </a:pPr>
            <a:r>
              <a:rPr sz="1725" b="1">
                <a:solidFill>
                  <a:srgbClr val="111111"/>
                </a:solidFill>
                <a:latin typeface="Hiragino Sans"/>
                <a:ea typeface="Hiragino Sans"/>
                <a:cs typeface="Hiragino Sans"/>
              </a:rPr>
              <a:t>前足で受ける。</a:t>
            </a:r>
          </a:p>
          <a:p xmlns:a="http://schemas.openxmlformats.org/drawingml/2006/main">
            <a:pPr>
              <a:defRPr sz="1725" b="1">
                <a:solidFill>
                  <a:srgbClr val="111111"/>
                </a:solidFill>
                <a:latin typeface="Hiragino Sans"/>
                <a:ea typeface="Hiragino Sans"/>
                <a:cs typeface="Hiragino Sans"/>
              </a:defRPr>
            </a:pPr>
            <a:r>
              <a:rPr sz="1725" b="1">
                <a:solidFill>
                  <a:srgbClr val="111111"/>
                </a:solidFill>
                <a:latin typeface="Hiragino Sans"/>
                <a:ea typeface="Hiragino Sans"/>
                <a:cs typeface="Hiragino Sans"/>
              </a:rPr>
              <a:t>腕で振らず、上体を素早く回す」</a:t>
            </a:r>
          </a:p>
        </p:txBody>
      </p:sp>
      <p:sp>
        <p:nvSpPr>
          <p:cNvPr id="13" name="focus-title">
            <a:extLst xmlns:a="http://schemas.openxmlformats.org/drawingml/2006/main">
              <a:ext uri="{FF2B5EF4-FFF2-40B4-BE49-F238E27FC236}">
                <a16:creationId xmlns:a16="http://schemas.microsoft.com/office/drawing/2014/main" id="{87D0F5B4-6EAC-4633-97B2-80BC464FD656}"/>
              </a:ext>
            </a:extLst>
          </p:cNvPr>
          <p:cNvSpPr>
            <a:spLocks xmlns:a="http://schemas.openxmlformats.org/drawingml/2006/main" noGrp="1"/>
          </p:cNvSpPr>
          <p:nvPr/>
        </p:nvSpPr>
        <p:spPr>
          <a:xfrm xmlns:a="http://schemas.openxmlformats.org/drawingml/2006/main">
            <a:off x="10572750" y="9001125"/>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677A8"/>
                </a:solidFill>
                <a:latin typeface="Hiragino Sans"/>
                <a:ea typeface="Hiragino Sans"/>
                <a:cs typeface="Hiragino Sans"/>
              </a:defRPr>
            </a:pPr>
            <a:r>
              <a:rPr sz="2025" b="1">
                <a:solidFill>
                  <a:srgbClr val="1677A8"/>
                </a:solidFill>
                <a:latin typeface="Hiragino Sans"/>
                <a:ea typeface="Hiragino Sans"/>
                <a:cs typeface="Hiragino Sans"/>
              </a:rPr>
              <a:t>習得させたい重点動作</a:t>
            </a:r>
          </a:p>
        </p:txBody>
      </p:sp>
      <p:sp>
        <p:nvSpPr>
          <p:cNvPr id="14" name="focus">
            <a:extLst xmlns:a="http://schemas.openxmlformats.org/drawingml/2006/main">
              <a:ext uri="{FF2B5EF4-FFF2-40B4-BE49-F238E27FC236}">
                <a16:creationId xmlns:a16="http://schemas.microsoft.com/office/drawing/2014/main" id="{BE29CD6F-ED9C-4EF9-8729-38C944B7D417}"/>
              </a:ext>
            </a:extLst>
          </p:cNvPr>
          <p:cNvSpPr>
            <a:spLocks xmlns:a="http://schemas.openxmlformats.org/drawingml/2006/main" noGrp="1"/>
          </p:cNvSpPr>
          <p:nvPr/>
        </p:nvSpPr>
        <p:spPr>
          <a:xfrm xmlns:a="http://schemas.openxmlformats.org/drawingml/2006/main">
            <a:off x="10572750" y="9429750"/>
            <a:ext cx="4238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11111"/>
                </a:solidFill>
                <a:latin typeface="Hiragino Sans"/>
                <a:ea typeface="Hiragino Sans"/>
                <a:cs typeface="Hiragino Sans"/>
              </a:defRPr>
            </a:pPr>
            <a:r>
              <a:rPr sz="1650" b="0">
                <a:solidFill>
                  <a:srgbClr val="111111"/>
                </a:solidFill>
                <a:latin typeface="Hiragino Sans"/>
                <a:ea typeface="Hiragino Sans"/>
                <a:cs typeface="Hiragino Sans"/>
              </a:rPr>
              <a:t>・体重移動と、踏み出し足の</a:t>
            </a:r>
          </a:p>
          <a:p xmlns:a="http://schemas.openxmlformats.org/drawingml/2006/main">
            <a:pPr>
              <a:defRPr sz="1650" b="0">
                <a:solidFill>
                  <a:srgbClr val="111111"/>
                </a:solidFill>
                <a:latin typeface="Hiragino Sans"/>
                <a:ea typeface="Hiragino Sans"/>
                <a:cs typeface="Hiragino Sans"/>
              </a:defRPr>
            </a:pPr>
            <a:r>
              <a:rPr sz="1650" b="0">
                <a:solidFill>
                  <a:srgbClr val="111111"/>
                </a:solidFill>
                <a:latin typeface="Hiragino Sans"/>
                <a:ea typeface="Hiragino Sans"/>
                <a:cs typeface="Hiragino Sans"/>
              </a:rPr>
              <a:t>　股関節を支点にした回旋</a:t>
            </a:r>
          </a:p>
          <a:p xmlns:a="http://schemas.openxmlformats.org/drawingml/2006/main">
            <a:pPr>
              <a:defRPr sz="1650" b="0">
                <a:solidFill>
                  <a:srgbClr val="111111"/>
                </a:solidFill>
                <a:latin typeface="Hiragino Sans"/>
                <a:ea typeface="Hiragino Sans"/>
                <a:cs typeface="Hiragino Sans"/>
              </a:defRPr>
            </a:pPr>
            <a:r>
              <a:rPr sz="1650" b="0">
                <a:solidFill>
                  <a:srgbClr val="111111"/>
                </a:solidFill>
                <a:latin typeface="Hiragino Sans"/>
                <a:ea typeface="Hiragino Sans"/>
                <a:cs typeface="Hiragino Sans"/>
              </a:rPr>
              <a:t>・トップと割れの作り方</a:t>
            </a:r>
          </a:p>
          <a:p xmlns:a="http://schemas.openxmlformats.org/drawingml/2006/main">
            <a:pPr>
              <a:defRPr sz="1650" b="0">
                <a:solidFill>
                  <a:srgbClr val="111111"/>
                </a:solidFill>
                <a:latin typeface="Hiragino Sans"/>
                <a:ea typeface="Hiragino Sans"/>
                <a:cs typeface="Hiragino Sans"/>
              </a:defRPr>
            </a:pPr>
            <a:r>
              <a:rPr sz="1650" b="0">
                <a:solidFill>
                  <a:srgbClr val="111111"/>
                </a:solidFill>
                <a:latin typeface="Hiragino Sans"/>
                <a:ea typeface="Hiragino Sans"/>
                <a:cs typeface="Hiragino Sans"/>
              </a:rPr>
              <a:t>・ボトムハンド側の肩による</a:t>
            </a:r>
          </a:p>
          <a:p xmlns:a="http://schemas.openxmlformats.org/drawingml/2006/main">
            <a:pPr>
              <a:defRPr sz="1650" b="0">
                <a:solidFill>
                  <a:srgbClr val="111111"/>
                </a:solidFill>
                <a:latin typeface="Hiragino Sans"/>
                <a:ea typeface="Hiragino Sans"/>
                <a:cs typeface="Hiragino Sans"/>
              </a:defRPr>
            </a:pPr>
            <a:r>
              <a:rPr sz="1650" b="0">
                <a:solidFill>
                  <a:srgbClr val="111111"/>
                </a:solidFill>
                <a:latin typeface="Hiragino Sans"/>
                <a:ea typeface="Hiragino Sans"/>
                <a:cs typeface="Hiragino Sans"/>
              </a:rPr>
              <a:t>　スイングリード</a:t>
            </a:r>
          </a:p>
        </p:txBody>
      </p:sp>
      <p:sp>
        <p:nvSpPr>
          <p:cNvPr id="15" name="footer">
            <a:extLst xmlns:a="http://schemas.openxmlformats.org/drawingml/2006/main">
              <a:ext uri="{FF2B5EF4-FFF2-40B4-BE49-F238E27FC236}">
                <a16:creationId xmlns:a16="http://schemas.microsoft.com/office/drawing/2014/main" id="{29692B8E-7EF0-4566-9A6C-A3AB5574F8D2}"/>
              </a:ext>
            </a:extLst>
          </p:cNvPr>
          <p:cNvSpPr>
            <a:spLocks xmlns:a="http://schemas.openxmlformats.org/drawingml/2006/main" noGrp="1"/>
          </p:cNvSpPr>
          <p:nvPr/>
        </p:nvSpPr>
        <p:spPr>
          <a:xfrm xmlns:a="http://schemas.openxmlformats.org/drawingml/2006/main">
            <a:off x="381000" y="10972800"/>
            <a:ext cx="1447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000000"/>
                </a:solidFill>
                <a:latin typeface="Hiragino Sans"/>
                <a:ea typeface="Hiragino Sans"/>
                <a:cs typeface="Hiragino Sans"/>
              </a:defRPr>
            </a:pPr>
            <a:r>
              <a:rPr sz="1125" b="0">
                <a:solidFill>
                  <a:srgbClr val="000000"/>
                </a:solidFill>
                <a:latin typeface="Hiragino Sans"/>
                <a:ea typeface="Hiragino Sans"/>
                <a:cs typeface="Hiragino Sans"/>
              </a:rPr>
              <a:t>バッティングスロー動画6選手（万波中正、近藤健介、中村剛也、村上宗隆、中田翔、山田哲人）を分析して上図を作成。軸足側への荷重、腰の投手方向への移動、着地までのトップと割れ、踏み出し足側の股関節を支点に腰・胸・肩・バットへ回転をつなぐ動作順は全員に共通していた。一方、構え、足の上げ方、ステップ幅は選手ごとに異なり、個人の好みを採用してよい要素である。</a:t>
            </a:r>
          </a:p>
        </p:txBody>
      </p:sp>
    </p:spTree>
    <p:extLst>
      <p:ext uri="{BB962C8B-B14F-4D97-AF65-F5344CB8AC3E}">
        <p14:creationId xmlns:p14="http://schemas.microsoft.com/office/powerpoint/2010/main" val="20110549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2026-09-16T09:36:02.8620000Z</dcterms:created>
  <dcterms:modified xsi:type="dcterms:W3CDTF">2026-09-16T09:36:02.8620000Z</dcterms:modified>
</coreProperties>
</file>